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HELPDESK.AI</a:t>
            </a:r>
          </a:p>
          <a:p>
            <a:r>
              <a:t>AI-Powered Ticket Creation &amp; Categorization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Infosys Springboard Virtual Internship 6.0</a:t>
            </a:r>
          </a:p>
          <a:p>
            <a:r>
              <a:t>Team Presentation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Ticket Triage Bottlenecks:</a:t>
            </a:r>
          </a:p>
          <a:p>
            <a:pPr lvl="1"/>
            <a:r>
              <a:t>Manual Creation: Takes 4-8 minutes per ticket.</a:t>
            </a:r>
          </a:p>
          <a:p>
            <a:pPr lvl="1"/>
            <a:r>
              <a:t>Inconsistent Routing: Human agents often mistriage severity and teams.</a:t>
            </a:r>
          </a:p>
          <a:p>
            <a:pPr lvl="1"/>
            <a:r>
              <a:t>Time Consuming: Slower response times breach SLAs.</a:t>
            </a:r>
          </a:p>
          <a:p>
            <a:pPr lvl="1"/>
            <a:r>
              <a:t>Ticket Floods: Outages cause hundreds of redundant manual tickets.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Automation Goals:</a:t>
            </a:r>
          </a:p>
          <a:p>
            <a:pPr lvl="1"/>
            <a:r>
              <a:t>Automatic Ticket Creation &amp; Categorization via AI.</a:t>
            </a:r>
          </a:p>
          <a:p>
            <a:pPr lvl="1"/>
            <a:r>
              <a:t>NER (Named Entity Recognition) for automated metadata extraction.</a:t>
            </a:r>
          </a:p>
          <a:p>
            <a:pPr lvl="1"/>
            <a:r>
              <a:t>Semantic Duplicate Detection using Cosine Similarity.</a:t>
            </a:r>
          </a:p>
          <a:p>
            <a:pPr lvl="1"/>
            <a:r>
              <a:t>Real-time Chat Troubleshooting via Google Gemini.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6702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[ 🖼️ INSERT ARCHITECTURE / FLOW DIAGRAM HERE ]</a:t>
            </a:r>
          </a:p>
          <a:p>
            <a:pPr>
              <a:defRPr sz="2400">
                <a:solidFill>
                  <a:srgbClr val="646464"/>
                </a:solidFill>
              </a:defRPr>
            </a:pPr>
          </a:p>
          <a:p>
            <a:pPr>
              <a:defRPr sz="2400">
                <a:solidFill>
                  <a:srgbClr val="646464"/>
                </a:solidFill>
              </a:defRPr>
            </a:pPr>
            <a:r>
              <a:t>FastAPI ➔ DistilBERT / NER / Gemini ➔ Supabase ➔ React/Vite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Final_Balanced_10000_IT_Support_Tickets.csv</a:t>
            </a:r>
          </a:p>
          <a:p>
            <a:pPr lvl="1"/>
            <a:r>
              <a:t>10,000 synthetic IT support tickets.</a:t>
            </a:r>
          </a:p>
          <a:p>
            <a:pPr lvl="1"/>
            <a:r>
              <a:t>5 Predicted Fields: Category, Subcategory, Priority, Auto-Resolve, Assigned Team.</a:t>
            </a:r>
          </a:p>
          <a:p>
            <a:pPr lvl="1"/>
            <a:r>
              <a:t>Challenges: Maintaining class balance across rare hardware vs standard software issues.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[ 📊 INSERT PIE CHART HERE ]</a:t>
            </a:r>
          </a:p>
          <a:p>
            <a:pPr>
              <a:defRPr sz="2400">
                <a:solidFill>
                  <a:srgbClr val="646464"/>
                </a:solidFill>
              </a:defRPr>
            </a:pPr>
          </a:p>
          <a:p>
            <a:pPr>
              <a:defRPr sz="2400">
                <a:solidFill>
                  <a:srgbClr val="646464"/>
                </a:solidFill>
              </a:defRPr>
            </a:pPr>
            <a:r>
              <a:t>(Data Distribution / Class Balance Chart)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Steps:</a:t>
            </a:r>
          </a:p>
          <a:p>
            <a:pPr lvl="1"/>
            <a:r>
              <a:t>Cleaning: Strict null dropping &amp; lowercase standardization.</a:t>
            </a:r>
          </a:p>
          <a:p>
            <a:pPr lvl="1"/>
            <a:r>
              <a:t>Hinglish Handling: Mixed language normalized via specific dataset expansion.</a:t>
            </a:r>
          </a:p>
          <a:p>
            <a:pPr lvl="1"/>
            <a:r>
              <a:t>Tokenization &amp; Lemmatization: HuggingFace BertTokenizerFast (Max Length 256).</a:t>
            </a:r>
          </a:p>
          <a:p>
            <a:pPr lvl="1"/>
            <a:r>
              <a:t>Encoding: Scikit-Learn LabelEncoder for all 5 categorical targets.</a:t>
            </a:r>
          </a:p>
          <a:p>
            <a:pPr>
              <a:defRPr>
                <a:solidFill>
                  <a:srgbClr val="0064C8"/>
                </a:solidFill>
              </a:defRPr>
            </a:pPr>
            <a:r>
              <a:t>[ 🖼️ INSERT BEFORE/AFTER DATAFRAME SCREENSHOT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Development: DistilBERT 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Journey:</a:t>
            </a:r>
          </a:p>
          <a:p>
            <a:pPr lvl="1"/>
            <a:r>
              <a:t>Models Tried: Initial Scikit-Learn pipelines, basic LSTM, fine-tuned DistilBERT v2.</a:t>
            </a:r>
          </a:p>
          <a:p>
            <a:pPr lvl="1"/>
            <a:r>
              <a:t>Model Finalized: Custom MultiOutputClassifier (bert-base-uncased).</a:t>
            </a:r>
          </a:p>
          <a:p>
            <a:pPr lvl="1"/>
            <a:r>
              <a:t>Why?: Joint representation learning across 5 heads prevented conflicting predictions and handled deep context.</a:t>
            </a:r>
          </a:p>
          <a:p>
            <a:pPr lvl="1"/>
            <a:r>
              <a:t>Evaluation Scores: ~94% overall accuracy across the 5 output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Named Entity Recognition (NER)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Automated Extraction:</a:t>
            </a:r>
          </a:p>
          <a:p>
            <a:pPr lvl="1"/>
            <a:r>
              <a:t>Approach: Transformer-based entity harvesting.</a:t>
            </a:r>
          </a:p>
          <a:p>
            <a:pPr lvl="1"/>
            <a:r>
              <a:t>Extracts: Device names, Hostnames, IP addresses, OS versions, specific Error codes.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>
                <a:latin typeface="Courier New"/>
              </a:defRPr>
            </a:pPr>
            <a:r>
              <a:t>JSON Output Example:</a:t>
            </a:r>
          </a:p>
          <a:p>
            <a:pPr>
              <a:defRPr sz="1800">
                <a:latin typeface="Courier New"/>
              </a:defRPr>
            </a:pPr>
            <a:r>
              <a:t>{</a:t>
            </a:r>
          </a:p>
          <a:p>
            <a:pPr>
              <a:defRPr sz="1800">
                <a:latin typeface="Courier New"/>
              </a:defRPr>
            </a:pPr>
            <a:r>
              <a:t>  'Device': 'MacBook Pro M2',</a:t>
            </a:r>
          </a:p>
          <a:p>
            <a:pPr>
              <a:defRPr sz="1800">
                <a:latin typeface="Courier New"/>
              </a:defRPr>
            </a:pPr>
            <a:r>
              <a:t>  'IP': '192.168.1.14',</a:t>
            </a:r>
          </a:p>
          <a:p>
            <a:pPr>
              <a:defRPr sz="1800">
                <a:latin typeface="Courier New"/>
              </a:defRPr>
            </a:pPr>
            <a:r>
              <a:t>  'OS': 'macOS 14.2'</a:t>
            </a:r>
          </a:p>
          <a:p>
            <a:pPr>
              <a:defRPr sz="18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Generation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Everything is Combined:</a:t>
            </a:r>
          </a:p>
          <a:p>
            <a:pPr lvl="1"/>
            <a:r>
              <a:t>Step 1: User submits text/screenshot.</a:t>
            </a:r>
          </a:p>
          <a:p>
            <a:pPr lvl="1"/>
            <a:r>
              <a:t>Step 2: Optical Character Recognition (OCR) reads the image.</a:t>
            </a:r>
          </a:p>
          <a:p>
            <a:pPr lvl="1"/>
            <a:r>
              <a:t>Step 3: DistilBERT V3 predicts Category, Priority, and Team.</a:t>
            </a:r>
          </a:p>
          <a:p>
            <a:pPr lvl="1"/>
            <a:r>
              <a:t>Step 4: NER extracts underlying metadata.</a:t>
            </a:r>
          </a:p>
          <a:p>
            <a:pPr lvl="1"/>
            <a:r>
              <a:t>Step 5: Sentence-Transformers check for Duplicates before Supabase insertion.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Orchestration:</a:t>
            </a:r>
          </a:p>
          <a:p>
            <a:pPr lvl="1"/>
            <a:r>
              <a:t>Frontend: React 19, Vite, Tailwind CSS (Deployed on Vercel).</a:t>
            </a:r>
          </a:p>
          <a:p>
            <a:pPr lvl="1"/>
            <a:r>
              <a:t>Backend: Python 3.12, PyTorch, FastAPI (Deployed on Hugging Face Spaces).</a:t>
            </a:r>
          </a:p>
          <a:p>
            <a:pPr lvl="1"/>
            <a:r>
              <a:t>Database: PostgreSQL via Supabase with strict Row-Level Security.</a:t>
            </a:r>
          </a:p>
          <a:p>
            <a:pPr lvl="1"/>
            <a:r>
              <a:t>API Workflow: Strictly decoupled JSON REST APIs communicating between Vercel Edge and HuggingFace CPUs.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702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3232"/>
                </a:solidFill>
              </a:defRPr>
            </a:pPr>
            <a:r>
              <a:t>[ 🖥️ Switch to Live Application/Video Demo Here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Obstacles Overcome:</a:t>
            </a:r>
          </a:p>
          <a:p>
            <a:pPr lvl="1"/>
            <a:r>
              <a:t>Dataset Class Imbalance: Solved via synthetic injection and stratified train/test splitting.</a:t>
            </a:r>
          </a:p>
          <a:p>
            <a:pPr lvl="1"/>
            <a:r>
              <a:t>Model Cold-Starts: Optimized HuggingFace FastAPI lifespan hooks to load models strictly once on startup.</a:t>
            </a:r>
          </a:p>
          <a:p>
            <a:pPr lvl="1"/>
            <a:r>
              <a:t>Multi-Lingual context (Hinglish): Overcome by expanding the BERT training set with localized colloquial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 lvl="1"/>
            <a:r>
              <a:t>Successfully engineered a 500ms AI neural pipeline replacing 4-8 minute manual triage limits.</a:t>
            </a:r>
          </a:p>
          <a:p>
            <a:pPr/>
            <a:r>
              <a:t>Future Scope:</a:t>
            </a:r>
          </a:p>
          <a:p>
            <a:pPr lvl="1"/>
            <a:r>
              <a:t>Active Learning Loops based on 'Corrections Log' mapping.</a:t>
            </a:r>
          </a:p>
          <a:p>
            <a:pPr lvl="1"/>
            <a:r>
              <a:t>Native Mobile Application integration with push-notification SLAs.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  <a:p>
            <a:pPr algn="ctr">
              <a:defRPr sz="4400" b="1"/>
            </a:pPr>
          </a:p>
          <a:p>
            <a:pPr algn="ctr">
              <a:defRPr sz="4400" b="1"/>
            </a:pPr>
            <a:r>
              <a:t>Questions &amp; Answers?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